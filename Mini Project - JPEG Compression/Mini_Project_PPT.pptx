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Raleway" pitchFamily="2" charset="0"/>
      <p:regular r:id="rId9"/>
      <p:bold r:id="rId10"/>
      <p:italic r:id="rId11"/>
      <p:boldItalic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Source Sans Pro" panose="020B0503030403020204" pitchFamily="3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2f6f29220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2f6f29220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2f6f29220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2f6f29220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2f6f29220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2f6f29220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3056dcf9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3056dcf9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3056dcf9a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3056dcf9a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European_wildca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Image and Video Processing Lab</a:t>
            </a:r>
            <a:endParaRPr dirty="0"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Mini Project - JPEG Compression</a:t>
            </a:r>
            <a:endParaRPr dirty="0"/>
          </a:p>
        </p:txBody>
      </p:sp>
      <p:sp>
        <p:nvSpPr>
          <p:cNvPr id="60" name="Google Shape;60;p13"/>
          <p:cNvSpPr txBox="1"/>
          <p:nvPr/>
        </p:nvSpPr>
        <p:spPr>
          <a:xfrm>
            <a:off x="6612000" y="4257900"/>
            <a:ext cx="2532000" cy="8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AECF0"/>
                </a:solidFill>
              </a:rPr>
              <a:t>Submitted by:</a:t>
            </a:r>
            <a:endParaRPr dirty="0">
              <a:solidFill>
                <a:srgbClr val="EAECF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AECF0"/>
                </a:solidFill>
              </a:rPr>
              <a:t>Sneha Dash, 21EC39023</a:t>
            </a:r>
            <a:endParaRPr dirty="0">
              <a:solidFill>
                <a:srgbClr val="EAECF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AECF0"/>
                </a:solidFill>
              </a:rPr>
              <a:t>Unnati Singh, 21EC39027</a:t>
            </a:r>
            <a:endParaRPr dirty="0">
              <a:solidFill>
                <a:srgbClr val="EAEC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 build="p"/>
      <p:bldP spid="6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JPEG 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088975"/>
            <a:ext cx="52281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dirty="0"/>
              <a:t>JPEG (Joint Photographic Experts Group) is a widely used compression standard, especially for photographic images, developed in the late 1980s.</a:t>
            </a:r>
            <a:endParaRPr sz="1900" dirty="0"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dirty="0"/>
              <a:t>It’s optimized for compressing images with complex color gradients and high detail, where preserving visual quality is essential.</a:t>
            </a:r>
            <a:endParaRPr sz="1900" dirty="0"/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 dirty="0"/>
              <a:t>JPEG uses lossy compression to reduce file sizes, making it easier to store and share images without significantly compromising visual quality.</a:t>
            </a:r>
            <a:endParaRPr sz="1900" dirty="0"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7750" y="1152475"/>
            <a:ext cx="2501850" cy="28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5798675" y="4279900"/>
            <a:ext cx="30000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highlight>
                  <a:schemeClr val="lt1"/>
                </a:highlight>
              </a:rPr>
              <a:t>A photo of a </a:t>
            </a:r>
            <a:r>
              <a:rPr lang="en" sz="1200" dirty="0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European wildcat</a:t>
            </a:r>
            <a:r>
              <a:rPr lang="en" sz="1200" dirty="0">
                <a:solidFill>
                  <a:schemeClr val="dk1"/>
                </a:solidFill>
                <a:highlight>
                  <a:schemeClr val="lt1"/>
                </a:highlight>
              </a:rPr>
              <a:t> with the compression rate, and associated losses, decreasing from left to right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 build="p"/>
      <p:bldP spid="6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JPEG Compression Pipeline</a:t>
            </a:r>
            <a:endParaRPr dirty="0"/>
          </a:p>
        </p:txBody>
      </p:sp>
      <p:grpSp>
        <p:nvGrpSpPr>
          <p:cNvPr id="74" name="Google Shape;74;p15"/>
          <p:cNvGrpSpPr/>
          <p:nvPr/>
        </p:nvGrpSpPr>
        <p:grpSpPr>
          <a:xfrm>
            <a:off x="5641491" y="1451093"/>
            <a:ext cx="2460300" cy="2460300"/>
            <a:chOff x="6254516" y="1318143"/>
            <a:chExt cx="2460300" cy="2460300"/>
          </a:xfrm>
        </p:grpSpPr>
        <p:sp>
          <p:nvSpPr>
            <p:cNvPr id="75" name="Google Shape;75;p15"/>
            <p:cNvSpPr/>
            <p:nvPr/>
          </p:nvSpPr>
          <p:spPr>
            <a:xfrm rot="2700000">
              <a:off x="7239866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rgbClr val="307A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443962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307AF3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900" b="1">
                <a:solidFill>
                  <a:srgbClr val="307A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" name="Google Shape;77;p15"/>
            <p:cNvSpPr txBox="1"/>
            <p:nvPr/>
          </p:nvSpPr>
          <p:spPr>
            <a:xfrm rot="-2700000">
              <a:off x="6375763" y="2297099"/>
              <a:ext cx="2378424" cy="3428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Run Length Encoding</a:t>
              </a:r>
              <a:endParaRPr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" name="Google Shape;78;p15"/>
            <p:cNvSpPr txBox="1"/>
            <p:nvPr/>
          </p:nvSpPr>
          <p:spPr>
            <a:xfrm rot="-2700000">
              <a:off x="6598058" y="2443986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</a:rPr>
                <a:t>RLE is used to compress repeated zero values, after zigzag ordering </a:t>
              </a:r>
              <a:endParaRPr sz="9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" name="Google Shape;79;p15"/>
          <p:cNvGrpSpPr/>
          <p:nvPr/>
        </p:nvGrpSpPr>
        <p:grpSpPr>
          <a:xfrm>
            <a:off x="4320343" y="1341593"/>
            <a:ext cx="2544697" cy="2460300"/>
            <a:chOff x="4761418" y="1318143"/>
            <a:chExt cx="2544697" cy="2460300"/>
          </a:xfrm>
        </p:grpSpPr>
        <p:sp>
          <p:nvSpPr>
            <p:cNvPr id="80" name="Google Shape;80;p15"/>
            <p:cNvSpPr/>
            <p:nvPr/>
          </p:nvSpPr>
          <p:spPr>
            <a:xfrm rot="2700000">
              <a:off x="5746767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rgbClr val="0E63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4950863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0E63F0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900" b="1">
                <a:solidFill>
                  <a:srgbClr val="0E6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 rot="-2700000">
              <a:off x="4896424" y="2302799"/>
              <a:ext cx="2362302" cy="3428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Quantization</a:t>
              </a:r>
              <a:endParaRPr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" name="Google Shape;83;p15"/>
            <p:cNvSpPr txBox="1"/>
            <p:nvPr/>
          </p:nvSpPr>
          <p:spPr>
            <a:xfrm rot="-2700000">
              <a:off x="5235435" y="2548636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</a:rPr>
                <a:t>The DCT coefficients are divided by a quantization matrix and then rounded to reduce precision</a:t>
              </a:r>
              <a:endParaRPr sz="7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2697388" y="1294493"/>
            <a:ext cx="2460300" cy="2460300"/>
            <a:chOff x="3269751" y="1318143"/>
            <a:chExt cx="2460300" cy="2460300"/>
          </a:xfrm>
        </p:grpSpPr>
        <p:sp>
          <p:nvSpPr>
            <p:cNvPr id="85" name="Google Shape;85;p15"/>
            <p:cNvSpPr/>
            <p:nvPr/>
          </p:nvSpPr>
          <p:spPr>
            <a:xfrm rot="2700000">
              <a:off x="4255100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rgbClr val="0D5C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3459197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0D5CD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900" b="1">
                <a:solidFill>
                  <a:srgbClr val="0D5C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Google Shape;87;p15"/>
            <p:cNvSpPr txBox="1"/>
            <p:nvPr/>
          </p:nvSpPr>
          <p:spPr>
            <a:xfrm rot="-2700000">
              <a:off x="3404724" y="2302799"/>
              <a:ext cx="2362302" cy="3428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Discrete Cosine Transform</a:t>
              </a:r>
              <a:endParaRPr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 rot="-2700000">
              <a:off x="3659368" y="2533061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</a:rPr>
                <a:t>Low-frequency components, are concentrated in the upper-left corner of the DCT matrix, while high-frequency components are spread toward the lower-right.</a:t>
              </a:r>
              <a:endParaRPr sz="9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1036526" y="1234693"/>
            <a:ext cx="2538347" cy="2460300"/>
            <a:chOff x="1111251" y="1392918"/>
            <a:chExt cx="2538347" cy="2460300"/>
          </a:xfrm>
        </p:grpSpPr>
        <p:grpSp>
          <p:nvGrpSpPr>
            <p:cNvPr id="90" name="Google Shape;90;p15"/>
            <p:cNvGrpSpPr/>
            <p:nvPr/>
          </p:nvGrpSpPr>
          <p:grpSpPr>
            <a:xfrm>
              <a:off x="1111251" y="1392918"/>
              <a:ext cx="2538347" cy="2460300"/>
              <a:chOff x="1111251" y="1392918"/>
              <a:chExt cx="2538347" cy="2460300"/>
            </a:xfrm>
          </p:grpSpPr>
          <p:sp>
            <p:nvSpPr>
              <p:cNvPr id="91" name="Google Shape;91;p15"/>
              <p:cNvSpPr/>
              <p:nvPr/>
            </p:nvSpPr>
            <p:spPr>
              <a:xfrm rot="2700000">
                <a:off x="2096600" y="1128173"/>
                <a:ext cx="489601" cy="2989789"/>
              </a:xfrm>
              <a:prstGeom prst="roundRect">
                <a:avLst>
                  <a:gd name="adj" fmla="val 50000"/>
                </a:avLst>
              </a:prstGeom>
              <a:solidFill>
                <a:srgbClr val="0C57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 rot="-2700000">
                <a:off x="1277374" y="2339199"/>
                <a:ext cx="2376303" cy="3428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Downsampling and Block Formation</a:t>
                </a:r>
                <a:endParaRPr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3" name="Google Shape;93;p15"/>
              <p:cNvSpPr txBox="1"/>
              <p:nvPr/>
            </p:nvSpPr>
            <p:spPr>
              <a:xfrm rot="-2700000">
                <a:off x="1578918" y="2630886"/>
                <a:ext cx="2242660" cy="442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</a:rPr>
                  <a:t>For every 4x4 block of Y samples, there is a 2x2 block for Cb and Cr. JPEG divides each channel (Y, Cb, Cr) into 8x8 pixel blocks. </a:t>
                </a:r>
                <a:endParaRPr sz="700" b="1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94" name="Google Shape;94;p15"/>
            <p:cNvSpPr/>
            <p:nvPr/>
          </p:nvSpPr>
          <p:spPr>
            <a:xfrm>
              <a:off x="1285772" y="3315287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900" b="1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5" name="Google Shape;95;p15"/>
          <p:cNvGrpSpPr/>
          <p:nvPr/>
        </p:nvGrpSpPr>
        <p:grpSpPr>
          <a:xfrm>
            <a:off x="-74741" y="1174893"/>
            <a:ext cx="2460300" cy="2460300"/>
            <a:chOff x="9" y="1062743"/>
            <a:chExt cx="2460300" cy="2460300"/>
          </a:xfrm>
        </p:grpSpPr>
        <p:sp>
          <p:nvSpPr>
            <p:cNvPr id="96" name="Google Shape;96;p15"/>
            <p:cNvSpPr/>
            <p:nvPr/>
          </p:nvSpPr>
          <p:spPr>
            <a:xfrm rot="2700000">
              <a:off x="985359" y="7979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rgbClr val="0942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151480" y="30387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0942A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900" b="1">
                <a:solidFill>
                  <a:srgbClr val="0942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" name="Google Shape;98;p15"/>
            <p:cNvSpPr txBox="1"/>
            <p:nvPr/>
          </p:nvSpPr>
          <p:spPr>
            <a:xfrm rot="-2700000">
              <a:off x="128067" y="2068524"/>
              <a:ext cx="2368666" cy="3428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Color Space Conversion</a:t>
              </a:r>
              <a:endParaRPr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 rot="-2700000">
              <a:off x="305601" y="2194186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</a:rPr>
                <a:t>Images are converted from the RGB colour space to the YCbCr colour space.</a:t>
              </a:r>
              <a:endParaRPr sz="7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6825741" y="1451093"/>
            <a:ext cx="2460300" cy="2460300"/>
            <a:chOff x="6254516" y="1318143"/>
            <a:chExt cx="2460300" cy="2460300"/>
          </a:xfrm>
        </p:grpSpPr>
        <p:sp>
          <p:nvSpPr>
            <p:cNvPr id="101" name="Google Shape;101;p15"/>
            <p:cNvSpPr/>
            <p:nvPr/>
          </p:nvSpPr>
          <p:spPr>
            <a:xfrm rot="2700000">
              <a:off x="7239866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rgbClr val="307A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6443962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307AF3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900" b="1">
                <a:solidFill>
                  <a:srgbClr val="307A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" name="Google Shape;103;p15"/>
            <p:cNvSpPr txBox="1"/>
            <p:nvPr/>
          </p:nvSpPr>
          <p:spPr>
            <a:xfrm rot="-2700000">
              <a:off x="6375763" y="2297099"/>
              <a:ext cx="2378424" cy="3428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Huffman Encoding</a:t>
              </a:r>
              <a:endParaRPr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" name="Google Shape;104;p15"/>
            <p:cNvSpPr txBox="1"/>
            <p:nvPr/>
          </p:nvSpPr>
          <p:spPr>
            <a:xfrm rot="-2700000">
              <a:off x="6443633" y="2607836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</a:rPr>
                <a:t>Variable-length encoding technique that assigns shorter codes to frequently occurring symbols and longer codes to less frequent ones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924250"/>
            <a:ext cx="6113000" cy="201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1207" y="3086925"/>
            <a:ext cx="5931095" cy="201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0900" y="1246324"/>
            <a:ext cx="2355025" cy="45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0899" y="1864049"/>
            <a:ext cx="2331400" cy="854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400" y="3244575"/>
            <a:ext cx="2699650" cy="50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3399" y="3896610"/>
            <a:ext cx="2699649" cy="112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4850" y="1548725"/>
            <a:ext cx="3189425" cy="93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39500"/>
            <a:ext cx="5316955" cy="16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1175" y="2480646"/>
            <a:ext cx="5091125" cy="2629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4850" y="927546"/>
            <a:ext cx="3189424" cy="52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7025" y="2795600"/>
            <a:ext cx="3299876" cy="65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6038" y="3616521"/>
            <a:ext cx="3299900" cy="112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32" name="Google Shape;132;p18"/>
          <p:cNvSpPr/>
          <p:nvPr/>
        </p:nvSpPr>
        <p:spPr>
          <a:xfrm rot="-3280241">
            <a:off x="3905982" y="2440132"/>
            <a:ext cx="1323418" cy="1320838"/>
          </a:xfrm>
          <a:prstGeom prst="ellipse">
            <a:avLst/>
          </a:prstGeom>
          <a:solidFill>
            <a:srgbClr val="A1C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JPEG Compression</a:t>
            </a:r>
            <a:endParaRPr/>
          </a:p>
        </p:txBody>
      </p:sp>
      <p:grpSp>
        <p:nvGrpSpPr>
          <p:cNvPr id="133" name="Google Shape;133;p18"/>
          <p:cNvGrpSpPr/>
          <p:nvPr/>
        </p:nvGrpSpPr>
        <p:grpSpPr>
          <a:xfrm>
            <a:off x="4184863" y="2053598"/>
            <a:ext cx="2958454" cy="3298347"/>
            <a:chOff x="4184863" y="1520198"/>
            <a:chExt cx="2958454" cy="3298347"/>
          </a:xfrm>
        </p:grpSpPr>
        <p:sp>
          <p:nvSpPr>
            <p:cNvPr id="134" name="Google Shape;134;p18"/>
            <p:cNvSpPr/>
            <p:nvPr/>
          </p:nvSpPr>
          <p:spPr>
            <a:xfrm rot="-3280088">
              <a:off x="4136321" y="2563569"/>
              <a:ext cx="3184127" cy="1211606"/>
            </a:xfrm>
            <a:custGeom>
              <a:avLst/>
              <a:gdLst/>
              <a:ahLst/>
              <a:cxnLst/>
              <a:rect l="l" t="t" r="r" b="b"/>
              <a:pathLst>
                <a:path w="492" h="187" extrusionOk="0">
                  <a:moveTo>
                    <a:pt x="457" y="0"/>
                  </a:moveTo>
                  <a:cubicBezTo>
                    <a:pt x="416" y="91"/>
                    <a:pt x="325" y="155"/>
                    <a:pt x="218" y="155"/>
                  </a:cubicBezTo>
                  <a:cubicBezTo>
                    <a:pt x="137" y="155"/>
                    <a:pt x="64" y="118"/>
                    <a:pt x="17" y="60"/>
                  </a:cubicBezTo>
                  <a:cubicBezTo>
                    <a:pt x="11" y="70"/>
                    <a:pt x="5" y="80"/>
                    <a:pt x="0" y="90"/>
                  </a:cubicBezTo>
                  <a:cubicBezTo>
                    <a:pt x="54" y="150"/>
                    <a:pt x="132" y="187"/>
                    <a:pt x="218" y="187"/>
                  </a:cubicBezTo>
                  <a:cubicBezTo>
                    <a:pt x="343" y="187"/>
                    <a:pt x="449" y="109"/>
                    <a:pt x="492" y="0"/>
                  </a:cubicBezTo>
                  <a:cubicBezTo>
                    <a:pt x="480" y="0"/>
                    <a:pt x="468" y="1"/>
                    <a:pt x="457" y="0"/>
                  </a:cubicBezTo>
                  <a:close/>
                </a:path>
              </a:pathLst>
            </a:custGeom>
            <a:solidFill>
              <a:srgbClr val="A1C2FA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 rot="-3280088">
              <a:off x="4100923" y="2460157"/>
              <a:ext cx="2729637" cy="1205146"/>
            </a:xfrm>
            <a:custGeom>
              <a:avLst/>
              <a:gdLst/>
              <a:ahLst/>
              <a:cxnLst/>
              <a:rect l="l" t="t" r="r" b="b"/>
              <a:pathLst>
                <a:path w="440" h="194" extrusionOk="0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rgbClr val="307AF3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8"/>
            <p:cNvSpPr txBox="1"/>
            <p:nvPr/>
          </p:nvSpPr>
          <p:spPr>
            <a:xfrm rot="-3779206">
              <a:off x="4733052" y="2863735"/>
              <a:ext cx="1577952" cy="5632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Adaptability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" name="Google Shape;137;p18"/>
          <p:cNvGrpSpPr/>
          <p:nvPr/>
        </p:nvGrpSpPr>
        <p:grpSpPr>
          <a:xfrm>
            <a:off x="2857731" y="462068"/>
            <a:ext cx="3293577" cy="3222916"/>
            <a:chOff x="2857731" y="-71332"/>
            <a:chExt cx="3293577" cy="3222916"/>
          </a:xfrm>
        </p:grpSpPr>
        <p:sp>
          <p:nvSpPr>
            <p:cNvPr id="138" name="Google Shape;138;p18"/>
            <p:cNvSpPr/>
            <p:nvPr/>
          </p:nvSpPr>
          <p:spPr>
            <a:xfrm rot="-3280089">
              <a:off x="3410337" y="297186"/>
              <a:ext cx="2188366" cy="2485879"/>
            </a:xfrm>
            <a:custGeom>
              <a:avLst/>
              <a:gdLst/>
              <a:ahLst/>
              <a:cxnLst/>
              <a:rect l="l" t="t" r="r" b="b"/>
              <a:pathLst>
                <a:path w="338" h="384" extrusionOk="0">
                  <a:moveTo>
                    <a:pt x="45" y="32"/>
                  </a:moveTo>
                  <a:cubicBezTo>
                    <a:pt x="189" y="32"/>
                    <a:pt x="306" y="148"/>
                    <a:pt x="306" y="292"/>
                  </a:cubicBezTo>
                  <a:cubicBezTo>
                    <a:pt x="306" y="325"/>
                    <a:pt x="300" y="355"/>
                    <a:pt x="289" y="384"/>
                  </a:cubicBezTo>
                  <a:cubicBezTo>
                    <a:pt x="301" y="384"/>
                    <a:pt x="312" y="384"/>
                    <a:pt x="324" y="383"/>
                  </a:cubicBezTo>
                  <a:cubicBezTo>
                    <a:pt x="333" y="354"/>
                    <a:pt x="338" y="324"/>
                    <a:pt x="338" y="292"/>
                  </a:cubicBezTo>
                  <a:cubicBezTo>
                    <a:pt x="338" y="131"/>
                    <a:pt x="207" y="0"/>
                    <a:pt x="45" y="0"/>
                  </a:cubicBezTo>
                  <a:cubicBezTo>
                    <a:pt x="30" y="0"/>
                    <a:pt x="15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A1C2FA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 rot="-3280088">
              <a:off x="3667674" y="581521"/>
              <a:ext cx="1790169" cy="2186080"/>
            </a:xfrm>
            <a:custGeom>
              <a:avLst/>
              <a:gdLst/>
              <a:ahLst/>
              <a:cxnLst/>
              <a:rect l="l" t="t" r="r" b="b"/>
              <a:pathLst>
                <a:path w="288" h="352" extrusionOk="0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rgbClr val="0D5CDF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3782825" y="1153125"/>
              <a:ext cx="15780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Efficient Compression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1" name="Google Shape;141;p18"/>
          <p:cNvGrpSpPr/>
          <p:nvPr/>
        </p:nvGrpSpPr>
        <p:grpSpPr>
          <a:xfrm>
            <a:off x="1959887" y="2218071"/>
            <a:ext cx="3424433" cy="3122279"/>
            <a:chOff x="1959887" y="1684671"/>
            <a:chExt cx="3424433" cy="3122279"/>
          </a:xfrm>
        </p:grpSpPr>
        <p:sp>
          <p:nvSpPr>
            <p:cNvPr id="142" name="Google Shape;142;p18"/>
            <p:cNvSpPr/>
            <p:nvPr/>
          </p:nvSpPr>
          <p:spPr>
            <a:xfrm rot="-3280088">
              <a:off x="2859669" y="1740600"/>
              <a:ext cx="1624870" cy="3045726"/>
            </a:xfrm>
            <a:custGeom>
              <a:avLst/>
              <a:gdLst/>
              <a:ahLst/>
              <a:cxnLst/>
              <a:rect l="l" t="t" r="r" b="b"/>
              <a:pathLst>
                <a:path w="251" h="470" extrusionOk="0">
                  <a:moveTo>
                    <a:pt x="32" y="286"/>
                  </a:moveTo>
                  <a:cubicBezTo>
                    <a:pt x="32" y="157"/>
                    <a:pt x="127" y="49"/>
                    <a:pt x="251" y="29"/>
                  </a:cubicBezTo>
                  <a:cubicBezTo>
                    <a:pt x="245" y="19"/>
                    <a:pt x="239" y="9"/>
                    <a:pt x="233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56"/>
                    <a:pt x="25" y="420"/>
                    <a:pt x="65" y="470"/>
                  </a:cubicBezTo>
                  <a:cubicBezTo>
                    <a:pt x="70" y="460"/>
                    <a:pt x="76" y="450"/>
                    <a:pt x="82" y="440"/>
                  </a:cubicBezTo>
                  <a:cubicBezTo>
                    <a:pt x="51" y="397"/>
                    <a:pt x="32" y="344"/>
                    <a:pt x="32" y="286"/>
                  </a:cubicBezTo>
                  <a:close/>
                </a:path>
              </a:pathLst>
            </a:custGeom>
            <a:solidFill>
              <a:srgbClr val="A1C2FA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 rot="-3280089">
              <a:off x="3037225" y="1789647"/>
              <a:ext cx="1575644" cy="2550423"/>
            </a:xfrm>
            <a:custGeom>
              <a:avLst/>
              <a:gdLst/>
              <a:ahLst/>
              <a:cxnLst/>
              <a:rect l="l" t="t" r="r" b="b"/>
              <a:pathLst>
                <a:path w="254" h="411" extrusionOk="0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rgbClr val="0942A1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8"/>
            <p:cNvSpPr txBox="1"/>
            <p:nvPr/>
          </p:nvSpPr>
          <p:spPr>
            <a:xfrm rot="3725110" flipH="1">
              <a:off x="2866277" y="2863871"/>
              <a:ext cx="1577671" cy="563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Loss of Image Data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2" grpId="0" animBg="1"/>
    </p:bldLst>
  </p:timing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Office PowerPoint</Application>
  <PresentationFormat>On-screen Show (16:9)</PresentationFormat>
  <Paragraphs>36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Roboto</vt:lpstr>
      <vt:lpstr>Arial</vt:lpstr>
      <vt:lpstr>Raleway</vt:lpstr>
      <vt:lpstr>Source Sans Pro</vt:lpstr>
      <vt:lpstr>Plum</vt:lpstr>
      <vt:lpstr>Image and Video Processing Lab</vt:lpstr>
      <vt:lpstr>JPEG </vt:lpstr>
      <vt:lpstr>JPEG Compression Pipeline</vt:lpstr>
      <vt:lpstr>Results</vt:lpstr>
      <vt:lpstr>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Unnati Singh</cp:lastModifiedBy>
  <cp:revision>1</cp:revision>
  <dcterms:modified xsi:type="dcterms:W3CDTF">2024-11-07T21:56:34Z</dcterms:modified>
</cp:coreProperties>
</file>